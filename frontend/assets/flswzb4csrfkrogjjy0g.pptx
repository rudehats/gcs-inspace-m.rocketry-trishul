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FC0"/>
    <a:srgbClr val="4F8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3" d="100"/>
          <a:sy n="73" d="100"/>
        </p:scale>
        <p:origin x="61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21"/>
            <a:ext cx="12189714" cy="4792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9309" y="221437"/>
            <a:ext cx="545338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26177" y="6464680"/>
            <a:ext cx="204724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770" y="6464680"/>
            <a:ext cx="1663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4.jp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hyperlink" Target="https://share.google/UqoHmTKNzJEJOvA66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8363011/" TargetMode="External"/><Relationship Id="rId5" Type="http://schemas.openxmlformats.org/officeDocument/2006/relationships/hyperlink" Target="https://share.google/kMWEuOywY2u4wn1nk" TargetMode="External"/><Relationship Id="rId4" Type="http://schemas.openxmlformats.org/officeDocument/2006/relationships/hyperlink" Target="https://www.sciencedirect.com/science/article/pii/S13550306210014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70" y="851535"/>
            <a:ext cx="4638675" cy="5155565"/>
            <a:chOff x="5656770" y="851535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0" y="851535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313" y="0"/>
                  </a:moveTo>
                  <a:lnTo>
                    <a:pt x="1180020" y="0"/>
                  </a:lnTo>
                  <a:lnTo>
                    <a:pt x="1147349" y="5788"/>
                  </a:lnTo>
                  <a:lnTo>
                    <a:pt x="1092152" y="48702"/>
                  </a:lnTo>
                  <a:lnTo>
                    <a:pt x="1072197" y="83565"/>
                  </a:lnTo>
                  <a:lnTo>
                    <a:pt x="726249" y="881126"/>
                  </a:lnTo>
                  <a:lnTo>
                    <a:pt x="713605" y="920626"/>
                  </a:lnTo>
                  <a:lnTo>
                    <a:pt x="709390" y="962723"/>
                  </a:lnTo>
                  <a:lnTo>
                    <a:pt x="713605" y="1004820"/>
                  </a:lnTo>
                  <a:lnTo>
                    <a:pt x="726249" y="1044320"/>
                  </a:lnTo>
                  <a:lnTo>
                    <a:pt x="1072197" y="1842007"/>
                  </a:lnTo>
                  <a:lnTo>
                    <a:pt x="1092168" y="1876837"/>
                  </a:lnTo>
                  <a:lnTo>
                    <a:pt x="1118552" y="1903602"/>
                  </a:lnTo>
                  <a:lnTo>
                    <a:pt x="786955" y="2668269"/>
                  </a:lnTo>
                  <a:lnTo>
                    <a:pt x="769411" y="2714122"/>
                  </a:lnTo>
                  <a:lnTo>
                    <a:pt x="756880" y="2762295"/>
                  </a:lnTo>
                  <a:lnTo>
                    <a:pt x="749361" y="2812013"/>
                  </a:lnTo>
                  <a:lnTo>
                    <a:pt x="746855" y="2862500"/>
                  </a:lnTo>
                  <a:lnTo>
                    <a:pt x="749361" y="2912981"/>
                  </a:lnTo>
                  <a:lnTo>
                    <a:pt x="756880" y="2962681"/>
                  </a:lnTo>
                  <a:lnTo>
                    <a:pt x="769411" y="3010824"/>
                  </a:lnTo>
                  <a:lnTo>
                    <a:pt x="786955" y="3056636"/>
                  </a:lnTo>
                  <a:lnTo>
                    <a:pt x="1610550" y="4956022"/>
                  </a:lnTo>
                  <a:lnTo>
                    <a:pt x="1635991" y="5005818"/>
                  </a:lnTo>
                  <a:lnTo>
                    <a:pt x="1666114" y="5049317"/>
                  </a:lnTo>
                  <a:lnTo>
                    <a:pt x="1700357" y="5086022"/>
                  </a:lnTo>
                  <a:lnTo>
                    <a:pt x="1738162" y="5115434"/>
                  </a:lnTo>
                  <a:lnTo>
                    <a:pt x="1778968" y="5137059"/>
                  </a:lnTo>
                  <a:lnTo>
                    <a:pt x="1822215" y="5150398"/>
                  </a:lnTo>
                  <a:lnTo>
                    <a:pt x="1867344" y="5154955"/>
                  </a:lnTo>
                  <a:lnTo>
                    <a:pt x="3518090" y="5154955"/>
                  </a:lnTo>
                  <a:lnTo>
                    <a:pt x="3562089" y="5150398"/>
                  </a:lnTo>
                  <a:lnTo>
                    <a:pt x="3604828" y="5137059"/>
                  </a:lnTo>
                  <a:lnTo>
                    <a:pt x="3645500" y="5115434"/>
                  </a:lnTo>
                  <a:lnTo>
                    <a:pt x="3683294" y="5086022"/>
                  </a:lnTo>
                  <a:lnTo>
                    <a:pt x="3717402" y="5049317"/>
                  </a:lnTo>
                  <a:lnTo>
                    <a:pt x="3747017" y="5005818"/>
                  </a:lnTo>
                  <a:lnTo>
                    <a:pt x="3771328" y="4956022"/>
                  </a:lnTo>
                  <a:lnTo>
                    <a:pt x="4598479" y="3056635"/>
                  </a:lnTo>
                  <a:lnTo>
                    <a:pt x="4616023" y="3010824"/>
                  </a:lnTo>
                  <a:lnTo>
                    <a:pt x="4628554" y="2962681"/>
                  </a:lnTo>
                  <a:lnTo>
                    <a:pt x="4636073" y="2912981"/>
                  </a:lnTo>
                  <a:lnTo>
                    <a:pt x="4638579" y="2862500"/>
                  </a:lnTo>
                  <a:lnTo>
                    <a:pt x="4636073" y="2812013"/>
                  </a:lnTo>
                  <a:lnTo>
                    <a:pt x="4628554" y="2762295"/>
                  </a:lnTo>
                  <a:lnTo>
                    <a:pt x="4616023" y="2714122"/>
                  </a:lnTo>
                  <a:lnTo>
                    <a:pt x="4598479" y="2668269"/>
                  </a:lnTo>
                  <a:lnTo>
                    <a:pt x="4270937" y="1916176"/>
                  </a:lnTo>
                  <a:lnTo>
                    <a:pt x="1176972" y="1916176"/>
                  </a:lnTo>
                  <a:lnTo>
                    <a:pt x="1168640" y="1915798"/>
                  </a:lnTo>
                  <a:lnTo>
                    <a:pt x="1160414" y="1914683"/>
                  </a:lnTo>
                  <a:lnTo>
                    <a:pt x="1152308" y="1912854"/>
                  </a:lnTo>
                  <a:lnTo>
                    <a:pt x="1144503" y="1910387"/>
                  </a:lnTo>
                  <a:lnTo>
                    <a:pt x="1125029" y="1899539"/>
                  </a:lnTo>
                  <a:lnTo>
                    <a:pt x="1143698" y="1856739"/>
                  </a:lnTo>
                  <a:lnTo>
                    <a:pt x="1168717" y="1798954"/>
                  </a:lnTo>
                  <a:lnTo>
                    <a:pt x="1131925" y="1758499"/>
                  </a:lnTo>
                  <a:lnTo>
                    <a:pt x="817054" y="1035050"/>
                  </a:lnTo>
                  <a:lnTo>
                    <a:pt x="802100" y="962723"/>
                  </a:lnTo>
                  <a:lnTo>
                    <a:pt x="805838" y="925393"/>
                  </a:lnTo>
                  <a:lnTo>
                    <a:pt x="1123759" y="183261"/>
                  </a:lnTo>
                  <a:lnTo>
                    <a:pt x="1164034" y="129047"/>
                  </a:lnTo>
                  <a:lnTo>
                    <a:pt x="1219263" y="109219"/>
                  </a:lnTo>
                  <a:lnTo>
                    <a:pt x="1990783" y="109219"/>
                  </a:lnTo>
                  <a:lnTo>
                    <a:pt x="1979612" y="83565"/>
                  </a:lnTo>
                  <a:lnTo>
                    <a:pt x="1960252" y="48702"/>
                  </a:lnTo>
                  <a:lnTo>
                    <a:pt x="1934845" y="22399"/>
                  </a:lnTo>
                  <a:lnTo>
                    <a:pt x="1905246" y="5788"/>
                  </a:lnTo>
                  <a:lnTo>
                    <a:pt x="1873313" y="0"/>
                  </a:lnTo>
                  <a:close/>
                </a:path>
                <a:path w="4638675" h="5155565">
                  <a:moveTo>
                    <a:pt x="673671" y="3125216"/>
                  </a:moveTo>
                  <a:lnTo>
                    <a:pt x="272351" y="3125216"/>
                  </a:lnTo>
                  <a:lnTo>
                    <a:pt x="253499" y="3128559"/>
                  </a:lnTo>
                  <a:lnTo>
                    <a:pt x="221559" y="3153344"/>
                  </a:lnTo>
                  <a:lnTo>
                    <a:pt x="9715" y="3635248"/>
                  </a:lnTo>
                  <a:lnTo>
                    <a:pt x="0" y="3682491"/>
                  </a:lnTo>
                  <a:lnTo>
                    <a:pt x="2428" y="3706864"/>
                  </a:lnTo>
                  <a:lnTo>
                    <a:pt x="209994" y="4191380"/>
                  </a:lnTo>
                  <a:lnTo>
                    <a:pt x="236315" y="4226814"/>
                  </a:lnTo>
                  <a:lnTo>
                    <a:pt x="272351" y="4239768"/>
                  </a:lnTo>
                  <a:lnTo>
                    <a:pt x="673671" y="4239768"/>
                  </a:lnTo>
                  <a:lnTo>
                    <a:pt x="724034" y="4211585"/>
                  </a:lnTo>
                  <a:lnTo>
                    <a:pt x="936307" y="3729735"/>
                  </a:lnTo>
                  <a:lnTo>
                    <a:pt x="946118" y="3682491"/>
                  </a:lnTo>
                  <a:lnTo>
                    <a:pt x="943665" y="3658119"/>
                  </a:lnTo>
                  <a:lnTo>
                    <a:pt x="735266" y="3173476"/>
                  </a:lnTo>
                  <a:lnTo>
                    <a:pt x="709326" y="3138154"/>
                  </a:lnTo>
                  <a:lnTo>
                    <a:pt x="673671" y="3125216"/>
                  </a:lnTo>
                  <a:close/>
                </a:path>
                <a:path w="4638675" h="5155565">
                  <a:moveTo>
                    <a:pt x="3518090" y="569976"/>
                  </a:moveTo>
                  <a:lnTo>
                    <a:pt x="2192591" y="569976"/>
                  </a:lnTo>
                  <a:lnTo>
                    <a:pt x="2324036" y="871854"/>
                  </a:lnTo>
                  <a:lnTo>
                    <a:pt x="2336680" y="911353"/>
                  </a:lnTo>
                  <a:lnTo>
                    <a:pt x="2340895" y="953436"/>
                  </a:lnTo>
                  <a:lnTo>
                    <a:pt x="2336680" y="995495"/>
                  </a:lnTo>
                  <a:lnTo>
                    <a:pt x="2323981" y="1035050"/>
                  </a:lnTo>
                  <a:lnTo>
                    <a:pt x="1976691" y="1832610"/>
                  </a:lnTo>
                  <a:lnTo>
                    <a:pt x="1957276" y="1867473"/>
                  </a:lnTo>
                  <a:lnTo>
                    <a:pt x="1902253" y="1910387"/>
                  </a:lnTo>
                  <a:lnTo>
                    <a:pt x="1870265" y="1916176"/>
                  </a:lnTo>
                  <a:lnTo>
                    <a:pt x="4270937" y="1916176"/>
                  </a:lnTo>
                  <a:lnTo>
                    <a:pt x="3771328" y="768985"/>
                  </a:lnTo>
                  <a:lnTo>
                    <a:pt x="3747017" y="719172"/>
                  </a:lnTo>
                  <a:lnTo>
                    <a:pt x="3717402" y="675658"/>
                  </a:lnTo>
                  <a:lnTo>
                    <a:pt x="3683294" y="638939"/>
                  </a:lnTo>
                  <a:lnTo>
                    <a:pt x="3645500" y="609514"/>
                  </a:lnTo>
                  <a:lnTo>
                    <a:pt x="3604828" y="587880"/>
                  </a:lnTo>
                  <a:lnTo>
                    <a:pt x="3562089" y="574535"/>
                  </a:lnTo>
                  <a:lnTo>
                    <a:pt x="3518090" y="569976"/>
                  </a:lnTo>
                  <a:close/>
                </a:path>
                <a:path w="4638675" h="5155565">
                  <a:moveTo>
                    <a:pt x="2097722" y="569976"/>
                  </a:moveTo>
                  <a:lnTo>
                    <a:pt x="1867344" y="569976"/>
                  </a:lnTo>
                  <a:lnTo>
                    <a:pt x="1822215" y="574535"/>
                  </a:lnTo>
                  <a:lnTo>
                    <a:pt x="1778968" y="587880"/>
                  </a:lnTo>
                  <a:lnTo>
                    <a:pt x="1738162" y="609514"/>
                  </a:lnTo>
                  <a:lnTo>
                    <a:pt x="1700357" y="638939"/>
                  </a:lnTo>
                  <a:lnTo>
                    <a:pt x="1666114" y="675658"/>
                  </a:lnTo>
                  <a:lnTo>
                    <a:pt x="1635991" y="719172"/>
                  </a:lnTo>
                  <a:lnTo>
                    <a:pt x="1610550" y="768985"/>
                  </a:lnTo>
                  <a:lnTo>
                    <a:pt x="1179639" y="1762632"/>
                  </a:lnTo>
                  <a:lnTo>
                    <a:pt x="1167574" y="1790700"/>
                  </a:lnTo>
                  <a:lnTo>
                    <a:pt x="1187590" y="1801814"/>
                  </a:lnTo>
                  <a:lnTo>
                    <a:pt x="1194429" y="1804009"/>
                  </a:lnTo>
                  <a:lnTo>
                    <a:pt x="1201626" y="1805638"/>
                  </a:lnTo>
                  <a:lnTo>
                    <a:pt x="1208942" y="1806624"/>
                  </a:lnTo>
                  <a:lnTo>
                    <a:pt x="1216342" y="1806955"/>
                  </a:lnTo>
                  <a:lnTo>
                    <a:pt x="1831022" y="1806955"/>
                  </a:lnTo>
                  <a:lnTo>
                    <a:pt x="1885568" y="1787064"/>
                  </a:lnTo>
                  <a:lnTo>
                    <a:pt x="1925256" y="1732788"/>
                  </a:lnTo>
                  <a:lnTo>
                    <a:pt x="2233231" y="1025651"/>
                  </a:lnTo>
                  <a:lnTo>
                    <a:pt x="2248180" y="953436"/>
                  </a:lnTo>
                  <a:lnTo>
                    <a:pt x="2244447" y="916102"/>
                  </a:lnTo>
                  <a:lnTo>
                    <a:pt x="2233231" y="881126"/>
                  </a:lnTo>
                  <a:lnTo>
                    <a:pt x="2097722" y="569976"/>
                  </a:lnTo>
                  <a:close/>
                </a:path>
                <a:path w="4638675" h="5155565">
                  <a:moveTo>
                    <a:pt x="1990783" y="109219"/>
                  </a:moveTo>
                  <a:lnTo>
                    <a:pt x="1833943" y="109219"/>
                  </a:lnTo>
                  <a:lnTo>
                    <a:pt x="1862294" y="114341"/>
                  </a:lnTo>
                  <a:lnTo>
                    <a:pt x="1888537" y="129047"/>
                  </a:lnTo>
                  <a:lnTo>
                    <a:pt x="1911042" y="152350"/>
                  </a:lnTo>
                  <a:lnTo>
                    <a:pt x="1928177" y="183261"/>
                  </a:lnTo>
                  <a:lnTo>
                    <a:pt x="2092134" y="559688"/>
                  </a:lnTo>
                  <a:lnTo>
                    <a:pt x="2187003" y="559688"/>
                  </a:lnTo>
                  <a:lnTo>
                    <a:pt x="1990783" y="109219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5897"/>
              <a:ext cx="3203448" cy="342620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0152" y="153161"/>
            <a:ext cx="808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1F487C"/>
                </a:solidFill>
              </a:rPr>
              <a:t>SMART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-55" dirty="0">
                <a:solidFill>
                  <a:srgbClr val="1F487C"/>
                </a:solidFill>
              </a:rPr>
              <a:t>2024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410057" y="1253489"/>
            <a:ext cx="6338570" cy="55159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985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PAGE</a:t>
            </a:r>
            <a:endParaRPr sz="32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72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SIH</a:t>
            </a:r>
            <a:r>
              <a:rPr lang="en-US" sz="2400" b="1" spc="-10" dirty="0">
                <a:latin typeface="Arial"/>
                <a:cs typeface="Arial"/>
              </a:rPr>
              <a:t>25134</a:t>
            </a:r>
            <a:endParaRPr sz="2400" dirty="0">
              <a:latin typeface="Arial"/>
              <a:cs typeface="Arial"/>
            </a:endParaRPr>
          </a:p>
          <a:p>
            <a:pPr marL="297180" marR="349250" indent="-285115" algn="just">
              <a:lnSpc>
                <a:spcPct val="145200"/>
              </a:lnSpc>
              <a:spcBef>
                <a:spcPts val="5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4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434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</a:t>
            </a:r>
            <a:r>
              <a:rPr sz="2400" b="1" spc="4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42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+mn-lt"/>
              </a:rPr>
              <a:t>There is a need to design drones and robots that can solve some of the pressing challenges of India such as handling medical emergencies, search and rescue operations, </a:t>
            </a:r>
            <a:r>
              <a:rPr lang="en-US" sz="1600" b="1" dirty="0" err="1">
                <a:latin typeface="+mn-lt"/>
              </a:rPr>
              <a:t>etc</a:t>
            </a:r>
            <a:endParaRPr sz="16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Theme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Robotics and Drones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Software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4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–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lang="en-US" sz="2400" b="1" spc="-70" dirty="0">
                <a:latin typeface="Arial"/>
                <a:cs typeface="Arial"/>
              </a:rPr>
              <a:t>TEAM STARFLEET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3892" y="81432"/>
            <a:ext cx="2246629" cy="11490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206" y="89149"/>
            <a:ext cx="2286000" cy="12089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5936" y="217057"/>
            <a:ext cx="11868856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25" dirty="0"/>
              <a:t>Red Dragonfly</a:t>
            </a:r>
            <a:endParaRPr spc="-105" dirty="0"/>
          </a:p>
        </p:txBody>
      </p:sp>
      <p:sp>
        <p:nvSpPr>
          <p:cNvPr id="14" name="object 14"/>
          <p:cNvSpPr/>
          <p:nvPr/>
        </p:nvSpPr>
        <p:spPr>
          <a:xfrm>
            <a:off x="115938" y="130874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937" y="1007269"/>
            <a:ext cx="11868855" cy="269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201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7978" y="126898"/>
            <a:ext cx="2136815" cy="993419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59" name="object 59"/>
          <p:cNvSpPr txBox="1"/>
          <p:nvPr/>
        </p:nvSpPr>
        <p:spPr>
          <a:xfrm>
            <a:off x="63369" y="1301325"/>
            <a:ext cx="11842750" cy="2484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8260" indent="-34290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16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sz="1600" b="1" u="sng" spc="-1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sz="1600" b="1" u="sng" spc="1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Arial MT"/>
                <a:cs typeface="Arial MT"/>
              </a:rPr>
              <a:t>: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lang="en-US" sz="1500" dirty="0">
                <a:latin typeface="Arial MT"/>
              </a:rPr>
              <a:t>Developing autonomous drones and rugged robots equipped with AI, sensors, and real-time communication can deliver medical aid, locate victims, and support disaster rescue. These systems ensure rapid response, reduce human risk, and enhance India’s emergency preparedness capabilities</a:t>
            </a:r>
            <a:r>
              <a:rPr lang="en-US" sz="1500" dirty="0"/>
              <a:t>.</a:t>
            </a:r>
          </a:p>
          <a:p>
            <a:pPr marL="355600" marR="48260" indent="-34290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endParaRPr lang="en-US" sz="1200" dirty="0"/>
          </a:p>
          <a:p>
            <a:pPr marL="355600" marR="48260" indent="-34290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16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1600" b="1" u="sng" spc="-2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600" b="1" u="sng" spc="-20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addresses</a:t>
            </a:r>
            <a:r>
              <a:rPr sz="1600" b="1" u="sng" spc="-40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u="sng" spc="-15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u="sng" spc="-10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600" b="1" spc="-10" dirty="0">
                <a:solidFill>
                  <a:srgbClr val="4F81BC"/>
                </a:solidFill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1500" b="1" dirty="0">
                <a:latin typeface="Arial MT"/>
                <a:cs typeface="Arial MT"/>
              </a:rPr>
              <a:t>Medical Emergency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lang="en-US" sz="1300" b="1" dirty="0"/>
              <a:t>Drones</a:t>
            </a:r>
            <a:r>
              <a:rPr lang="en-US" sz="1300" dirty="0"/>
              <a:t> deliver essential supplies like, oxygen, and medicines within minutes, bypassing traffic and reaching remote villages.</a:t>
            </a: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1500" b="1" dirty="0"/>
              <a:t>Search &amp; Rescue Operations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lang="en-US" sz="1300" b="1" dirty="0"/>
              <a:t>Thermal cameras, AI-based victim detection, and audio sensors</a:t>
            </a:r>
            <a:r>
              <a:rPr lang="en-US" sz="1300" dirty="0"/>
              <a:t> on drones identify survivors under rubble.</a:t>
            </a:r>
            <a:endParaRPr sz="13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US" sz="1500" b="1" dirty="0"/>
              <a:t>Integration &amp; Scalability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lang="en-US" sz="1300" dirty="0"/>
              <a:t>Scalable design allows deployment in both </a:t>
            </a:r>
            <a:r>
              <a:rPr lang="en-US" sz="1300" b="1" dirty="0"/>
              <a:t>urban traffic scenarios</a:t>
            </a:r>
            <a:r>
              <a:rPr lang="en-US" sz="1300" dirty="0"/>
              <a:t> and </a:t>
            </a:r>
            <a:r>
              <a:rPr lang="en-US" sz="1300" b="1" dirty="0"/>
              <a:t>rural inaccessible regions</a:t>
            </a:r>
            <a:r>
              <a:rPr lang="en-US" sz="1300" dirty="0"/>
              <a:t>.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endParaRPr sz="13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lang="en-US" sz="1400" dirty="0"/>
              <a:t>The solution directly addresses the problem statement by using </a:t>
            </a:r>
            <a:r>
              <a:rPr lang="en-US" sz="1400" u="sng" dirty="0"/>
              <a:t>drones for speed and accessibility</a:t>
            </a:r>
            <a:r>
              <a:rPr lang="en-US" sz="1400" dirty="0"/>
              <a:t>, and an </a:t>
            </a:r>
            <a:r>
              <a:rPr lang="en-US" sz="1400" u="sng" dirty="0"/>
              <a:t>integrated digital platform</a:t>
            </a:r>
            <a:r>
              <a:rPr lang="en-US" sz="1400" dirty="0"/>
              <a:t> for coordination, making emergency handling and rescue faster, safer, and more reliable.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3369" y="199627"/>
            <a:ext cx="13926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sz="1500" dirty="0"/>
              <a:t>STARFLEET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233" y="3721027"/>
            <a:ext cx="2581275" cy="2714625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115936" y="3971112"/>
            <a:ext cx="5827664" cy="2286000"/>
          </a:xfrm>
          <a:prstGeom prst="rect">
            <a:avLst/>
          </a:prstGeom>
          <a:ln>
            <a:solidFill>
              <a:srgbClr val="006F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 flipH="1">
            <a:off x="115936" y="3971112"/>
            <a:ext cx="582766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u="sng" dirty="0">
                <a:solidFill>
                  <a:srgbClr val="4F81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1638" y="4138552"/>
            <a:ext cx="577744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sz="1300" b="1" dirty="0"/>
          </a:p>
          <a:p>
            <a:pPr marL="342900" indent="-342900">
              <a:buAutoNum type="arabicPeriod"/>
            </a:pPr>
            <a:r>
              <a:rPr lang="en-US" sz="1300" b="1" dirty="0"/>
              <a:t>AI-powered Victim Detection</a:t>
            </a:r>
            <a:r>
              <a:rPr lang="en-US" sz="1300" dirty="0"/>
              <a:t>: Uses </a:t>
            </a:r>
            <a:r>
              <a:rPr lang="en-US" sz="1300" b="1" dirty="0"/>
              <a:t>multi-sensor fusion</a:t>
            </a:r>
            <a:r>
              <a:rPr lang="en-US" sz="1300" dirty="0"/>
              <a:t> (thermal + visual + audio) with lightweight AI models to </a:t>
            </a:r>
            <a:r>
              <a:rPr lang="en-US" sz="1300" b="1" dirty="0"/>
              <a:t>detect survivors.</a:t>
            </a:r>
          </a:p>
          <a:p>
            <a:pPr marL="342900" indent="-342900">
              <a:buAutoNum type="arabicPeriod"/>
            </a:pPr>
            <a:endParaRPr lang="en-US" sz="1300" b="1" dirty="0"/>
          </a:p>
          <a:p>
            <a:pPr marL="342900" indent="-342900">
              <a:buFontTx/>
              <a:buAutoNum type="arabicPeriod"/>
            </a:pPr>
            <a:r>
              <a:rPr lang="en-US" sz="1300" b="1" dirty="0"/>
              <a:t>Payload Customization: </a:t>
            </a:r>
            <a:r>
              <a:rPr lang="en-US" sz="1300" dirty="0"/>
              <a:t>Drones are equipped with </a:t>
            </a:r>
            <a:r>
              <a:rPr lang="en-US" sz="1300" b="1" dirty="0"/>
              <a:t>modular payload pods</a:t>
            </a:r>
            <a:r>
              <a:rPr lang="en-US" sz="1300" dirty="0"/>
              <a:t> for medicines depending on the emergency type</a:t>
            </a:r>
          </a:p>
          <a:p>
            <a:pPr marL="342900" indent="-342900">
              <a:buFontTx/>
              <a:buAutoNum type="arabicPeriod"/>
            </a:pPr>
            <a:endParaRPr lang="en-US" sz="1300" dirty="0"/>
          </a:p>
          <a:p>
            <a:pPr marL="342900" indent="-342900">
              <a:buFontTx/>
              <a:buAutoNum type="arabicPeriod"/>
            </a:pPr>
            <a:r>
              <a:rPr lang="en-US" sz="1200" b="1" dirty="0"/>
              <a:t>Smart Dashboard &amp; Analytics</a:t>
            </a:r>
            <a:r>
              <a:rPr lang="en-US" sz="1200" dirty="0"/>
              <a:t>: Centralized </a:t>
            </a:r>
            <a:r>
              <a:rPr lang="en-US" sz="1200" b="1" dirty="0"/>
              <a:t>command dashboard</a:t>
            </a:r>
            <a:r>
              <a:rPr lang="en-US" sz="1200" dirty="0"/>
              <a:t> with live drone/robot feeds, GIS mapping, AI-based triage, and predictive analytics for </a:t>
            </a:r>
            <a:r>
              <a:rPr lang="en-US" sz="1200" b="1" dirty="0"/>
              <a:t>decision-making and resource optimization</a:t>
            </a:r>
            <a:r>
              <a:rPr lang="en-US" sz="1200" dirty="0"/>
              <a:t> during emergencies.</a:t>
            </a:r>
          </a:p>
          <a:p>
            <a:pPr marL="342900" indent="-342900">
              <a:buFontTx/>
              <a:buAutoNum type="arabicPeriod"/>
            </a:pPr>
            <a:endParaRPr lang="en-US" sz="1300" dirty="0"/>
          </a:p>
          <a:p>
            <a:pPr marL="342900" indent="-342900">
              <a:buFontTx/>
              <a:buAutoNum type="arabicPeriod"/>
            </a:pPr>
            <a:endParaRPr lang="en-US" sz="1300" dirty="0"/>
          </a:p>
          <a:p>
            <a:r>
              <a:rPr lang="en-US" sz="1300" b="1" dirty="0"/>
              <a:t> </a:t>
            </a: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749" y="29083"/>
            <a:ext cx="2378251" cy="12577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6421"/>
              <a:ext cx="12189714" cy="4792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354762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52800" y="225660"/>
            <a:ext cx="54533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1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3374" y="131790"/>
            <a:ext cx="2136815" cy="99341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10108" y="193294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605"/>
                </a:moveTo>
                <a:lnTo>
                  <a:pt x="10084" y="331062"/>
                </a:lnTo>
                <a:lnTo>
                  <a:pt x="39159" y="262783"/>
                </a:lnTo>
                <a:lnTo>
                  <a:pt x="60266" y="230598"/>
                </a:lnTo>
                <a:lnTo>
                  <a:pt x="85457" y="199907"/>
                </a:lnTo>
                <a:lnTo>
                  <a:pt x="114513" y="170852"/>
                </a:lnTo>
                <a:lnTo>
                  <a:pt x="147211" y="143576"/>
                </a:lnTo>
                <a:lnTo>
                  <a:pt x="183330" y="118221"/>
                </a:lnTo>
                <a:lnTo>
                  <a:pt x="222651" y="94929"/>
                </a:lnTo>
                <a:lnTo>
                  <a:pt x="264952" y="73844"/>
                </a:lnTo>
                <a:lnTo>
                  <a:pt x="310011" y="55108"/>
                </a:lnTo>
                <a:lnTo>
                  <a:pt x="357609" y="38863"/>
                </a:lnTo>
                <a:lnTo>
                  <a:pt x="407523" y="25252"/>
                </a:lnTo>
                <a:lnTo>
                  <a:pt x="459534" y="14418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897" y="1649"/>
                </a:lnTo>
                <a:lnTo>
                  <a:pt x="738431" y="6503"/>
                </a:lnTo>
                <a:lnTo>
                  <a:pt x="792312" y="14418"/>
                </a:lnTo>
                <a:lnTo>
                  <a:pt x="844320" y="25252"/>
                </a:lnTo>
                <a:lnTo>
                  <a:pt x="894233" y="38863"/>
                </a:lnTo>
                <a:lnTo>
                  <a:pt x="941830" y="55108"/>
                </a:lnTo>
                <a:lnTo>
                  <a:pt x="986890" y="73844"/>
                </a:lnTo>
                <a:lnTo>
                  <a:pt x="1029191" y="94929"/>
                </a:lnTo>
                <a:lnTo>
                  <a:pt x="1068514" y="118221"/>
                </a:lnTo>
                <a:lnTo>
                  <a:pt x="1104636" y="143576"/>
                </a:lnTo>
                <a:lnTo>
                  <a:pt x="1137337" y="170852"/>
                </a:lnTo>
                <a:lnTo>
                  <a:pt x="1166395" y="199907"/>
                </a:lnTo>
                <a:lnTo>
                  <a:pt x="1191589" y="230598"/>
                </a:lnTo>
                <a:lnTo>
                  <a:pt x="1212698" y="262783"/>
                </a:lnTo>
                <a:lnTo>
                  <a:pt x="1241778" y="331062"/>
                </a:lnTo>
                <a:lnTo>
                  <a:pt x="1251864" y="403605"/>
                </a:lnTo>
                <a:lnTo>
                  <a:pt x="1249305" y="440359"/>
                </a:lnTo>
                <a:lnTo>
                  <a:pt x="1229502" y="510946"/>
                </a:lnTo>
                <a:lnTo>
                  <a:pt x="1191589" y="576692"/>
                </a:lnTo>
                <a:lnTo>
                  <a:pt x="1166395" y="607393"/>
                </a:lnTo>
                <a:lnTo>
                  <a:pt x="1137337" y="636457"/>
                </a:lnTo>
                <a:lnTo>
                  <a:pt x="1104636" y="663741"/>
                </a:lnTo>
                <a:lnTo>
                  <a:pt x="1068514" y="689101"/>
                </a:lnTo>
                <a:lnTo>
                  <a:pt x="1029191" y="712398"/>
                </a:lnTo>
                <a:lnTo>
                  <a:pt x="986890" y="733486"/>
                </a:lnTo>
                <a:lnTo>
                  <a:pt x="941830" y="752225"/>
                </a:lnTo>
                <a:lnTo>
                  <a:pt x="894233" y="768472"/>
                </a:lnTo>
                <a:lnTo>
                  <a:pt x="844320" y="782084"/>
                </a:lnTo>
                <a:lnTo>
                  <a:pt x="792312" y="792919"/>
                </a:lnTo>
                <a:lnTo>
                  <a:pt x="738431" y="800835"/>
                </a:lnTo>
                <a:lnTo>
                  <a:pt x="682897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19"/>
                </a:lnTo>
                <a:lnTo>
                  <a:pt x="407523" y="782084"/>
                </a:lnTo>
                <a:lnTo>
                  <a:pt x="357609" y="768472"/>
                </a:lnTo>
                <a:lnTo>
                  <a:pt x="310011" y="752225"/>
                </a:lnTo>
                <a:lnTo>
                  <a:pt x="264952" y="733486"/>
                </a:lnTo>
                <a:lnTo>
                  <a:pt x="222651" y="712398"/>
                </a:lnTo>
                <a:lnTo>
                  <a:pt x="183330" y="689101"/>
                </a:lnTo>
                <a:lnTo>
                  <a:pt x="147211" y="663741"/>
                </a:lnTo>
                <a:lnTo>
                  <a:pt x="114513" y="636457"/>
                </a:lnTo>
                <a:lnTo>
                  <a:pt x="85457" y="607393"/>
                </a:lnTo>
                <a:lnTo>
                  <a:pt x="60266" y="576692"/>
                </a:lnTo>
                <a:lnTo>
                  <a:pt x="39159" y="544496"/>
                </a:lnTo>
                <a:lnTo>
                  <a:pt x="10084" y="476187"/>
                </a:lnTo>
                <a:lnTo>
                  <a:pt x="0" y="403605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7328" y="225660"/>
            <a:ext cx="27752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735" indent="2540" algn="ctr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alibri"/>
                <a:cs typeface="Calibri"/>
              </a:rPr>
              <a:t>TEAM STARFLEET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8" name="Rectangle 27"/>
          <p:cNvSpPr/>
          <p:nvPr/>
        </p:nvSpPr>
        <p:spPr>
          <a:xfrm>
            <a:off x="197328" y="1600200"/>
            <a:ext cx="3554615" cy="4607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96227" y="1600200"/>
            <a:ext cx="3715657" cy="46126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539917" y="1600200"/>
            <a:ext cx="3460272" cy="46073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197328" y="1172144"/>
            <a:ext cx="3554615" cy="32259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5341" y="1162897"/>
            <a:ext cx="3726543" cy="3225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TECHSTACK USED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39917" y="1162897"/>
            <a:ext cx="3507443" cy="3225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538" y="1622298"/>
            <a:ext cx="32821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Strong Plastic Frame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Brushless DC Motors (BLDC) – 935 KV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Propellers – 10-12 inch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Electronic Speed Controllers – 15-20 A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Flight Controller - </a:t>
            </a:r>
            <a:r>
              <a:rPr lang="en-US" dirty="0" err="1">
                <a:latin typeface="+mj-lt"/>
              </a:rPr>
              <a:t>Pixhawk</a:t>
            </a:r>
            <a:endParaRPr lang="en-US" dirty="0">
              <a:latin typeface="+mj-lt"/>
            </a:endParaRPr>
          </a:p>
          <a:p>
            <a:pPr marL="342900" indent="-342900">
              <a:buAutoNum type="arabicPeriod"/>
            </a:pPr>
            <a:r>
              <a:rPr lang="en-US" dirty="0" err="1">
                <a:latin typeface="+mj-lt"/>
              </a:rPr>
              <a:t>LiPo</a:t>
            </a:r>
            <a:r>
              <a:rPr lang="en-US" dirty="0">
                <a:latin typeface="+mj-lt"/>
              </a:rPr>
              <a:t> Battery 4s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Transmitter (TX) &amp; Receiver (RX) – fs i10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GPS Module &amp; Compass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Raspberry Pi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FPV Camera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Thermal Camera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Ground Support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Servo Motor – Hook/Drop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373" y="58313"/>
            <a:ext cx="2136815" cy="10718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663" y="1815392"/>
            <a:ext cx="3012779" cy="40371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6227" y="1622298"/>
            <a:ext cx="36285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🚀 </a:t>
            </a:r>
            <a:r>
              <a:rPr lang="en-US" b="1" u="sng" dirty="0" smtClean="0">
                <a:latin typeface="+mj-lt"/>
              </a:rPr>
              <a:t>Frontend</a:t>
            </a:r>
          </a:p>
          <a:p>
            <a:r>
              <a:rPr lang="en-US" dirty="0" smtClean="0">
                <a:latin typeface="+mj-lt"/>
              </a:rPr>
              <a:t>Next.js, React, Tailwind CSS</a:t>
            </a:r>
          </a:p>
          <a:p>
            <a:r>
              <a:rPr lang="en-US" dirty="0" smtClean="0">
                <a:latin typeface="+mj-lt"/>
              </a:rPr>
              <a:t>🚀 </a:t>
            </a:r>
            <a:r>
              <a:rPr lang="en-US" b="1" u="sng" dirty="0" smtClean="0">
                <a:latin typeface="+mj-lt"/>
              </a:rPr>
              <a:t>Backend</a:t>
            </a:r>
          </a:p>
          <a:p>
            <a:r>
              <a:rPr lang="en-US" dirty="0" smtClean="0">
                <a:latin typeface="+mj-lt"/>
              </a:rPr>
              <a:t>Node.js, express.js, MongoDB Atlas</a:t>
            </a:r>
          </a:p>
          <a:p>
            <a:r>
              <a:rPr lang="en-US" dirty="0" smtClean="0">
                <a:latin typeface="+mj-lt"/>
              </a:rPr>
              <a:t>🚀 </a:t>
            </a:r>
            <a:r>
              <a:rPr lang="en-US" b="1" u="sng" dirty="0" smtClean="0">
                <a:latin typeface="+mj-lt"/>
              </a:rPr>
              <a:t>Dashboard &amp; AI</a:t>
            </a:r>
          </a:p>
          <a:p>
            <a:r>
              <a:rPr lang="en-US" dirty="0" err="1" smtClean="0">
                <a:latin typeface="+mj-lt"/>
              </a:rPr>
              <a:t>Tensorflow</a:t>
            </a:r>
            <a:r>
              <a:rPr lang="en-US" dirty="0" smtClean="0">
                <a:latin typeface="+mj-lt"/>
              </a:rPr>
              <a:t> Lite, Python, Mission Planner</a:t>
            </a:r>
          </a:p>
          <a:p>
            <a:r>
              <a:rPr lang="en-US" dirty="0" smtClean="0">
                <a:latin typeface="+mj-lt"/>
              </a:rPr>
              <a:t>🚀 </a:t>
            </a:r>
            <a:r>
              <a:rPr lang="en-US" b="1" u="sng" dirty="0" smtClean="0">
                <a:latin typeface="+mj-lt"/>
              </a:rPr>
              <a:t>Python Libraries</a:t>
            </a:r>
          </a:p>
          <a:p>
            <a:r>
              <a:rPr lang="en-US" dirty="0" err="1" smtClean="0">
                <a:latin typeface="+mj-lt"/>
              </a:rPr>
              <a:t>Numpy</a:t>
            </a:r>
            <a:r>
              <a:rPr lang="en-US" dirty="0" smtClean="0">
                <a:latin typeface="+mj-lt"/>
              </a:rPr>
              <a:t>, math.lib, </a:t>
            </a:r>
            <a:r>
              <a:rPr lang="en-US" dirty="0" err="1" smtClean="0">
                <a:latin typeface="+mj-lt"/>
              </a:rPr>
              <a:t>keras</a:t>
            </a:r>
            <a:r>
              <a:rPr lang="en-US" dirty="0" smtClean="0">
                <a:latin typeface="+mj-lt"/>
              </a:rPr>
              <a:t>, </a:t>
            </a:r>
            <a:r>
              <a:rPr lang="en-US" dirty="0" err="1" smtClean="0">
                <a:latin typeface="+mj-lt"/>
              </a:rPr>
              <a:t>scikit</a:t>
            </a:r>
            <a:r>
              <a:rPr lang="en-US" dirty="0" smtClean="0">
                <a:latin typeface="+mj-lt"/>
              </a:rPr>
              <a:t> learn</a:t>
            </a:r>
            <a:endParaRPr lang="en-US" dirty="0">
              <a:latin typeface="+mj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113" y="4310070"/>
            <a:ext cx="716756" cy="71675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177" y="4295880"/>
            <a:ext cx="821382" cy="8213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433" y="4299955"/>
            <a:ext cx="817307" cy="81730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176" y="4225976"/>
            <a:ext cx="955624" cy="9556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04541" y="5138921"/>
            <a:ext cx="880879" cy="88087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8" y="5078599"/>
            <a:ext cx="1001521" cy="100152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914" y="5138921"/>
            <a:ext cx="880879" cy="8808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40" y="5199955"/>
            <a:ext cx="846960" cy="846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374" y="131790"/>
            <a:ext cx="2136815" cy="9934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29768" y="124460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606"/>
                </a:moveTo>
                <a:lnTo>
                  <a:pt x="10084" y="331062"/>
                </a:lnTo>
                <a:lnTo>
                  <a:pt x="39159" y="262783"/>
                </a:lnTo>
                <a:lnTo>
                  <a:pt x="60266" y="230598"/>
                </a:lnTo>
                <a:lnTo>
                  <a:pt x="85457" y="199907"/>
                </a:lnTo>
                <a:lnTo>
                  <a:pt x="114513" y="170852"/>
                </a:lnTo>
                <a:lnTo>
                  <a:pt x="147211" y="143576"/>
                </a:lnTo>
                <a:lnTo>
                  <a:pt x="183330" y="118221"/>
                </a:lnTo>
                <a:lnTo>
                  <a:pt x="222651" y="94929"/>
                </a:lnTo>
                <a:lnTo>
                  <a:pt x="264952" y="73844"/>
                </a:lnTo>
                <a:lnTo>
                  <a:pt x="310011" y="55108"/>
                </a:lnTo>
                <a:lnTo>
                  <a:pt x="357609" y="38863"/>
                </a:lnTo>
                <a:lnTo>
                  <a:pt x="407523" y="25252"/>
                </a:lnTo>
                <a:lnTo>
                  <a:pt x="459534" y="14418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8"/>
                </a:lnTo>
                <a:lnTo>
                  <a:pt x="844333" y="25252"/>
                </a:lnTo>
                <a:lnTo>
                  <a:pt x="894248" y="38863"/>
                </a:lnTo>
                <a:lnTo>
                  <a:pt x="941847" y="55108"/>
                </a:lnTo>
                <a:lnTo>
                  <a:pt x="986909" y="73844"/>
                </a:lnTo>
                <a:lnTo>
                  <a:pt x="1029212" y="94929"/>
                </a:lnTo>
                <a:lnTo>
                  <a:pt x="1068536" y="118221"/>
                </a:lnTo>
                <a:lnTo>
                  <a:pt x="1104659" y="143576"/>
                </a:lnTo>
                <a:lnTo>
                  <a:pt x="1137361" y="170852"/>
                </a:lnTo>
                <a:lnTo>
                  <a:pt x="1166419" y="199907"/>
                </a:lnTo>
                <a:lnTo>
                  <a:pt x="1191614" y="230598"/>
                </a:lnTo>
                <a:lnTo>
                  <a:pt x="1212723" y="262783"/>
                </a:lnTo>
                <a:lnTo>
                  <a:pt x="1241803" y="331062"/>
                </a:lnTo>
                <a:lnTo>
                  <a:pt x="1251889" y="403606"/>
                </a:lnTo>
                <a:lnTo>
                  <a:pt x="1249331" y="440359"/>
                </a:lnTo>
                <a:lnTo>
                  <a:pt x="1229527" y="510946"/>
                </a:lnTo>
                <a:lnTo>
                  <a:pt x="1191614" y="576692"/>
                </a:lnTo>
                <a:lnTo>
                  <a:pt x="1166419" y="607393"/>
                </a:lnTo>
                <a:lnTo>
                  <a:pt x="1137361" y="636457"/>
                </a:lnTo>
                <a:lnTo>
                  <a:pt x="1104659" y="663741"/>
                </a:lnTo>
                <a:lnTo>
                  <a:pt x="1068536" y="689101"/>
                </a:lnTo>
                <a:lnTo>
                  <a:pt x="1029212" y="712398"/>
                </a:lnTo>
                <a:lnTo>
                  <a:pt x="986909" y="733486"/>
                </a:lnTo>
                <a:lnTo>
                  <a:pt x="941847" y="752225"/>
                </a:lnTo>
                <a:lnTo>
                  <a:pt x="894248" y="768472"/>
                </a:lnTo>
                <a:lnTo>
                  <a:pt x="844333" y="782084"/>
                </a:lnTo>
                <a:lnTo>
                  <a:pt x="792323" y="792919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9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19"/>
                </a:lnTo>
                <a:lnTo>
                  <a:pt x="407523" y="782084"/>
                </a:lnTo>
                <a:lnTo>
                  <a:pt x="357609" y="768472"/>
                </a:lnTo>
                <a:lnTo>
                  <a:pt x="310011" y="752225"/>
                </a:lnTo>
                <a:lnTo>
                  <a:pt x="264952" y="733486"/>
                </a:lnTo>
                <a:lnTo>
                  <a:pt x="222651" y="712398"/>
                </a:lnTo>
                <a:lnTo>
                  <a:pt x="183330" y="689102"/>
                </a:lnTo>
                <a:lnTo>
                  <a:pt x="147211" y="663741"/>
                </a:lnTo>
                <a:lnTo>
                  <a:pt x="114513" y="636457"/>
                </a:lnTo>
                <a:lnTo>
                  <a:pt x="85457" y="607393"/>
                </a:lnTo>
                <a:lnTo>
                  <a:pt x="60266" y="576692"/>
                </a:lnTo>
                <a:lnTo>
                  <a:pt x="39159" y="544496"/>
                </a:lnTo>
                <a:lnTo>
                  <a:pt x="10084" y="476187"/>
                </a:lnTo>
                <a:lnTo>
                  <a:pt x="0" y="403606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01170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8989" y="1125209"/>
            <a:ext cx="5791200" cy="3225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OF THE SOLUTIONS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217" y="0"/>
            <a:ext cx="2286000" cy="10961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8989" y="1742063"/>
            <a:ext cx="5791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Social</a:t>
            </a:r>
          </a:p>
          <a:p>
            <a:r>
              <a:rPr lang="en-US" sz="1200" b="1" dirty="0"/>
              <a:t>•</a:t>
            </a:r>
            <a:r>
              <a:rPr lang="en-US" sz="1200" dirty="0"/>
              <a:t> Lives saved by reducing response times in accidents, and disasters.</a:t>
            </a:r>
          </a:p>
          <a:p>
            <a:r>
              <a:rPr lang="en-US" sz="1200" b="1" dirty="0"/>
              <a:t>•</a:t>
            </a:r>
            <a:r>
              <a:rPr lang="en-US" sz="1200" dirty="0"/>
              <a:t> Helps people in remote villages, hilly areas, or flood-prone regions where  ambulances </a:t>
            </a:r>
            <a:r>
              <a:rPr lang="en-US" sz="1200"/>
              <a:t>struggle.</a:t>
            </a:r>
            <a:endParaRPr lang="en-US" sz="1200" dirty="0"/>
          </a:p>
          <a:p>
            <a:r>
              <a:rPr lang="en-US" b="1" dirty="0"/>
              <a:t>Healthcare</a:t>
            </a:r>
          </a:p>
          <a:p>
            <a:r>
              <a:rPr lang="en-US" sz="1800" b="1" dirty="0"/>
              <a:t>•</a:t>
            </a:r>
            <a:r>
              <a:rPr lang="en-US" b="1" dirty="0"/>
              <a:t> </a:t>
            </a:r>
            <a:r>
              <a:rPr lang="en-US" sz="1200" b="1" dirty="0"/>
              <a:t>First response within minutes</a:t>
            </a:r>
            <a:r>
              <a:rPr lang="en-US" sz="1200" dirty="0"/>
              <a:t> – AEDs, medicines, and oxygen delivered much faster than conventional ambulances.</a:t>
            </a:r>
          </a:p>
          <a:p>
            <a:r>
              <a:rPr lang="en-US" sz="1800" b="1" dirty="0"/>
              <a:t>•</a:t>
            </a:r>
            <a:r>
              <a:rPr lang="en-US" sz="1200" dirty="0"/>
              <a:t>Provides </a:t>
            </a:r>
            <a:r>
              <a:rPr lang="en-US" sz="1200" b="1" dirty="0"/>
              <a:t>contactless services</a:t>
            </a:r>
            <a:r>
              <a:rPr lang="en-US" sz="1200" dirty="0"/>
              <a:t> during pandemics to reduce infection spread</a:t>
            </a:r>
            <a:r>
              <a:rPr lang="en-US" dirty="0"/>
              <a:t>.</a:t>
            </a:r>
            <a:endParaRPr lang="en-US" sz="1800" b="1" dirty="0"/>
          </a:p>
          <a:p>
            <a:r>
              <a:rPr lang="en-IN" b="1" dirty="0"/>
              <a:t>Disaster Management Impact</a:t>
            </a:r>
            <a:endParaRPr lang="en-US" b="1" dirty="0"/>
          </a:p>
          <a:p>
            <a:r>
              <a:rPr lang="en-US" sz="1800" b="1" dirty="0"/>
              <a:t>• </a:t>
            </a:r>
            <a:r>
              <a:rPr lang="en-US" sz="1200" dirty="0"/>
              <a:t>Drones provide </a:t>
            </a:r>
            <a:r>
              <a:rPr lang="en-US" sz="1200" b="1" dirty="0"/>
              <a:t>real-time mapping</a:t>
            </a:r>
            <a:r>
              <a:rPr lang="en-US" sz="1200" dirty="0"/>
              <a:t> of disaster-hit zones.</a:t>
            </a:r>
            <a:endParaRPr lang="en-US" sz="1200" b="1" dirty="0"/>
          </a:p>
          <a:p>
            <a:r>
              <a:rPr lang="en-US" sz="1800" b="1" dirty="0"/>
              <a:t>• </a:t>
            </a:r>
            <a:r>
              <a:rPr lang="en-US" sz="1200" dirty="0"/>
              <a:t>Robots support </a:t>
            </a:r>
            <a:r>
              <a:rPr lang="en-US" sz="1200" b="1" dirty="0"/>
              <a:t>search &amp; rescue</a:t>
            </a:r>
            <a:r>
              <a:rPr lang="en-US" sz="1200" dirty="0"/>
              <a:t> in collapsed or unsafe areas.</a:t>
            </a:r>
            <a:endParaRPr lang="en-US" sz="1200" b="1" dirty="0"/>
          </a:p>
          <a:p>
            <a:r>
              <a:rPr lang="en-IN" b="1" dirty="0"/>
              <a:t>Environmental Impact</a:t>
            </a:r>
            <a:endParaRPr lang="en-US" sz="1800" b="1" dirty="0"/>
          </a:p>
          <a:p>
            <a:r>
              <a:rPr lang="en-US" sz="1800" b="1" dirty="0"/>
              <a:t>• </a:t>
            </a:r>
            <a:r>
              <a:rPr lang="en-IN" sz="1200" dirty="0"/>
              <a:t>Monitors </a:t>
            </a:r>
            <a:r>
              <a:rPr lang="en-IN" sz="1200" b="1" dirty="0"/>
              <a:t>forest fires, floods, landslides &amp; pollution</a:t>
            </a:r>
            <a:r>
              <a:rPr lang="en-IN" sz="1200" dirty="0"/>
              <a:t> levels.</a:t>
            </a:r>
            <a:endParaRPr lang="en-US" sz="1200" b="1" dirty="0"/>
          </a:p>
          <a:p>
            <a:r>
              <a:rPr lang="en-US" sz="1800" b="1" dirty="0"/>
              <a:t>• </a:t>
            </a:r>
            <a:r>
              <a:rPr lang="en-US" sz="1200" dirty="0"/>
              <a:t>Supports </a:t>
            </a:r>
            <a:r>
              <a:rPr lang="en-US" sz="1200" b="1" dirty="0"/>
              <a:t>precision agriculture</a:t>
            </a:r>
            <a:r>
              <a:rPr lang="en-US" sz="1200" dirty="0"/>
              <a:t>, reducing resource wastage.</a:t>
            </a:r>
            <a:endParaRPr lang="en-US" sz="1200" b="1" dirty="0"/>
          </a:p>
          <a:p>
            <a:r>
              <a:rPr lang="en-IN" b="1" dirty="0"/>
              <a:t>Technological Impact</a:t>
            </a:r>
            <a:endParaRPr lang="en-US" b="1" dirty="0"/>
          </a:p>
          <a:p>
            <a:r>
              <a:rPr lang="en-US" sz="1800" b="1" dirty="0"/>
              <a:t>• </a:t>
            </a:r>
            <a:r>
              <a:rPr lang="en-US" sz="1200" dirty="0"/>
              <a:t>Advances </a:t>
            </a:r>
            <a:r>
              <a:rPr lang="en-US" sz="1200" b="1" dirty="0"/>
              <a:t>AI, IoT, robotics &amp; drone technology</a:t>
            </a:r>
            <a:r>
              <a:rPr lang="en-US" sz="1200" dirty="0"/>
              <a:t>.</a:t>
            </a:r>
            <a:endParaRPr lang="en-US" b="1" dirty="0"/>
          </a:p>
          <a:p>
            <a:r>
              <a:rPr lang="en-US" sz="1800" b="1" dirty="0"/>
              <a:t>• </a:t>
            </a:r>
            <a:r>
              <a:rPr lang="en-US" sz="1200" dirty="0"/>
              <a:t>Opens opportunities for </a:t>
            </a:r>
            <a:r>
              <a:rPr lang="en-US" sz="1200" b="1" dirty="0"/>
              <a:t>startups &amp; MSMEs</a:t>
            </a:r>
            <a:r>
              <a:rPr lang="en-US" sz="1200" dirty="0"/>
              <a:t> in robotics &amp; automation</a:t>
            </a:r>
            <a:endParaRPr lang="en-US" sz="1200" b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78" y="1103438"/>
            <a:ext cx="4114800" cy="249871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7678" y="3794945"/>
            <a:ext cx="5791200" cy="3225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678" y="4193025"/>
            <a:ext cx="58653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• </a:t>
            </a:r>
            <a:r>
              <a:rPr lang="en-US" sz="1200" dirty="0"/>
              <a:t>Provides </a:t>
            </a:r>
            <a:r>
              <a:rPr lang="en-US" sz="1200" b="1" dirty="0"/>
              <a:t>real-time mapping and surveillance</a:t>
            </a:r>
            <a:r>
              <a:rPr lang="en-US" sz="1200" dirty="0"/>
              <a:t> of disaster-affected areas.</a:t>
            </a:r>
            <a:endParaRPr lang="en-US" sz="1200" b="1" dirty="0"/>
          </a:p>
          <a:p>
            <a:r>
              <a:rPr lang="en-US" sz="1800" b="1" dirty="0"/>
              <a:t>• </a:t>
            </a:r>
            <a:r>
              <a:rPr lang="en-US" sz="1200" dirty="0"/>
              <a:t>Supports </a:t>
            </a:r>
            <a:r>
              <a:rPr lang="en-US" sz="1200" b="1" dirty="0"/>
              <a:t>precision agriculture</a:t>
            </a:r>
            <a:r>
              <a:rPr lang="en-US" sz="1200" dirty="0"/>
              <a:t>, cutting down water, fertilizer, and pesticide wastage.</a:t>
            </a:r>
            <a:endParaRPr lang="en-US" sz="1200" b="1" dirty="0"/>
          </a:p>
          <a:p>
            <a:r>
              <a:rPr lang="en-US" sz="1800" b="1" dirty="0"/>
              <a:t>• </a:t>
            </a:r>
            <a:r>
              <a:rPr lang="en-US" sz="1200" dirty="0"/>
              <a:t>Reduces dependency on </a:t>
            </a:r>
            <a:r>
              <a:rPr lang="en-US" sz="1200" b="1" dirty="0"/>
              <a:t>imported technologies</a:t>
            </a:r>
            <a:r>
              <a:rPr lang="en-US" sz="1200" dirty="0"/>
              <a:t> by developing indigenous solutions.</a:t>
            </a:r>
            <a:endParaRPr lang="en-US" sz="1200" b="1" dirty="0"/>
          </a:p>
          <a:p>
            <a:r>
              <a:rPr lang="en-US" sz="1800" b="1" dirty="0"/>
              <a:t>• </a:t>
            </a:r>
            <a:r>
              <a:rPr lang="en-US" sz="1200" dirty="0"/>
              <a:t>Helps in </a:t>
            </a:r>
            <a:r>
              <a:rPr lang="en-US" sz="1200" b="1" dirty="0"/>
              <a:t>wildlife monitoring, habitat protection, and anti-poaching efforts</a:t>
            </a:r>
            <a:r>
              <a:rPr lang="en-US" sz="1200" dirty="0"/>
              <a:t>.</a:t>
            </a:r>
            <a:endParaRPr lang="en-US" sz="1200" b="1" dirty="0"/>
          </a:p>
          <a:p>
            <a:r>
              <a:rPr lang="en-US" sz="1800" b="1" dirty="0"/>
              <a:t>• </a:t>
            </a:r>
            <a:r>
              <a:rPr lang="en-US" sz="1200" dirty="0"/>
              <a:t>Improves overall </a:t>
            </a:r>
            <a:r>
              <a:rPr lang="en-US" sz="1200" b="1" dirty="0"/>
              <a:t>emergency response speed</a:t>
            </a:r>
            <a:r>
              <a:rPr lang="en-US" sz="1200" dirty="0"/>
              <a:t>, directly saving lives.</a:t>
            </a:r>
            <a:endParaRPr lang="en-US" sz="1200" b="1" dirty="0"/>
          </a:p>
          <a:p>
            <a:r>
              <a:rPr lang="en-US" sz="1800" b="1" dirty="0"/>
              <a:t>•</a:t>
            </a:r>
            <a:r>
              <a:rPr lang="en-IN" sz="1200" dirty="0"/>
              <a:t>Promotes </a:t>
            </a:r>
            <a:r>
              <a:rPr lang="en-IN" sz="1200" b="1" dirty="0"/>
              <a:t>sustainability and efficient resource management</a:t>
            </a:r>
            <a:endParaRPr lang="en-US" sz="1200" b="1" dirty="0"/>
          </a:p>
          <a:p>
            <a:endParaRPr lang="en-US" sz="1800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4541" y="221437"/>
            <a:ext cx="65817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FEASIBILITY</a:t>
            </a:r>
            <a:r>
              <a:rPr sz="3600" b="1" spc="-3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-8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VIABILITY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374" y="131790"/>
            <a:ext cx="2136815" cy="9934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29768" y="173609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606"/>
                </a:moveTo>
                <a:lnTo>
                  <a:pt x="10084" y="331062"/>
                </a:lnTo>
                <a:lnTo>
                  <a:pt x="39159" y="262783"/>
                </a:lnTo>
                <a:lnTo>
                  <a:pt x="60266" y="230598"/>
                </a:lnTo>
                <a:lnTo>
                  <a:pt x="85457" y="199907"/>
                </a:lnTo>
                <a:lnTo>
                  <a:pt x="114513" y="170852"/>
                </a:lnTo>
                <a:lnTo>
                  <a:pt x="147211" y="143576"/>
                </a:lnTo>
                <a:lnTo>
                  <a:pt x="183330" y="118221"/>
                </a:lnTo>
                <a:lnTo>
                  <a:pt x="222651" y="94929"/>
                </a:lnTo>
                <a:lnTo>
                  <a:pt x="264952" y="73844"/>
                </a:lnTo>
                <a:lnTo>
                  <a:pt x="310011" y="55108"/>
                </a:lnTo>
                <a:lnTo>
                  <a:pt x="357609" y="38863"/>
                </a:lnTo>
                <a:lnTo>
                  <a:pt x="407523" y="25252"/>
                </a:lnTo>
                <a:lnTo>
                  <a:pt x="459534" y="14418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8"/>
                </a:lnTo>
                <a:lnTo>
                  <a:pt x="844333" y="25252"/>
                </a:lnTo>
                <a:lnTo>
                  <a:pt x="894248" y="38863"/>
                </a:lnTo>
                <a:lnTo>
                  <a:pt x="941847" y="55108"/>
                </a:lnTo>
                <a:lnTo>
                  <a:pt x="986909" y="73844"/>
                </a:lnTo>
                <a:lnTo>
                  <a:pt x="1029212" y="94929"/>
                </a:lnTo>
                <a:lnTo>
                  <a:pt x="1068536" y="118221"/>
                </a:lnTo>
                <a:lnTo>
                  <a:pt x="1104659" y="143576"/>
                </a:lnTo>
                <a:lnTo>
                  <a:pt x="1137361" y="170852"/>
                </a:lnTo>
                <a:lnTo>
                  <a:pt x="1166419" y="199907"/>
                </a:lnTo>
                <a:lnTo>
                  <a:pt x="1191614" y="230598"/>
                </a:lnTo>
                <a:lnTo>
                  <a:pt x="1212723" y="262783"/>
                </a:lnTo>
                <a:lnTo>
                  <a:pt x="1241803" y="331062"/>
                </a:lnTo>
                <a:lnTo>
                  <a:pt x="1251889" y="403606"/>
                </a:lnTo>
                <a:lnTo>
                  <a:pt x="1249331" y="440359"/>
                </a:lnTo>
                <a:lnTo>
                  <a:pt x="1229527" y="510946"/>
                </a:lnTo>
                <a:lnTo>
                  <a:pt x="1191614" y="576692"/>
                </a:lnTo>
                <a:lnTo>
                  <a:pt x="1166419" y="607393"/>
                </a:lnTo>
                <a:lnTo>
                  <a:pt x="1137361" y="636457"/>
                </a:lnTo>
                <a:lnTo>
                  <a:pt x="1104659" y="663741"/>
                </a:lnTo>
                <a:lnTo>
                  <a:pt x="1068536" y="689101"/>
                </a:lnTo>
                <a:lnTo>
                  <a:pt x="1029212" y="712398"/>
                </a:lnTo>
                <a:lnTo>
                  <a:pt x="986909" y="733486"/>
                </a:lnTo>
                <a:lnTo>
                  <a:pt x="941847" y="752225"/>
                </a:lnTo>
                <a:lnTo>
                  <a:pt x="894248" y="768472"/>
                </a:lnTo>
                <a:lnTo>
                  <a:pt x="844333" y="782084"/>
                </a:lnTo>
                <a:lnTo>
                  <a:pt x="792323" y="792919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9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19"/>
                </a:lnTo>
                <a:lnTo>
                  <a:pt x="407523" y="782084"/>
                </a:lnTo>
                <a:lnTo>
                  <a:pt x="357609" y="768472"/>
                </a:lnTo>
                <a:lnTo>
                  <a:pt x="310011" y="752225"/>
                </a:lnTo>
                <a:lnTo>
                  <a:pt x="264952" y="733486"/>
                </a:lnTo>
                <a:lnTo>
                  <a:pt x="222651" y="712398"/>
                </a:lnTo>
                <a:lnTo>
                  <a:pt x="183330" y="689102"/>
                </a:lnTo>
                <a:lnTo>
                  <a:pt x="147211" y="663741"/>
                </a:lnTo>
                <a:lnTo>
                  <a:pt x="114513" y="636457"/>
                </a:lnTo>
                <a:lnTo>
                  <a:pt x="85457" y="607393"/>
                </a:lnTo>
                <a:lnTo>
                  <a:pt x="60266" y="576692"/>
                </a:lnTo>
                <a:lnTo>
                  <a:pt x="39159" y="544496"/>
                </a:lnTo>
                <a:lnTo>
                  <a:pt x="10084" y="476187"/>
                </a:lnTo>
                <a:lnTo>
                  <a:pt x="0" y="403606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535" y="277223"/>
            <a:ext cx="1659891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lang="en-US" sz="1700" b="0" spc="-25" dirty="0">
                <a:latin typeface="Calibri"/>
                <a:cs typeface="Calibri"/>
              </a:rPr>
              <a:t>TEAM</a:t>
            </a:r>
            <a:br>
              <a:rPr lang="en-US" sz="1700" b="0" spc="-25" dirty="0">
                <a:latin typeface="Calibri"/>
                <a:cs typeface="Calibri"/>
              </a:rPr>
            </a:br>
            <a:r>
              <a:rPr lang="en-US" sz="1700" b="0" spc="-25" dirty="0">
                <a:latin typeface="Calibri"/>
                <a:cs typeface="Calibri"/>
              </a:rPr>
              <a:t>STARFLEET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69EB9B7-0439-C935-E77E-1C4BC678E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7061" y="1411994"/>
            <a:ext cx="3526740" cy="4616648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Affordable &amp; Scalable</a:t>
            </a:r>
            <a:r>
              <a:rPr lang="en-US" sz="1200" dirty="0"/>
              <a:t> – Low-cost drone and robotic solutions can be developed using indigenous tech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Wide Applications</a:t>
            </a:r>
            <a:r>
              <a:rPr lang="en-US" sz="1200" dirty="0"/>
              <a:t> – One design can be adapted for healthcare, disaster relief, agriculture, and environment.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Supportive Ecosystem</a:t>
            </a:r>
            <a:r>
              <a:rPr lang="en-US" sz="1200" dirty="0"/>
              <a:t> – Govt. initiatives like </a:t>
            </a:r>
            <a:r>
              <a:rPr lang="en-US" sz="1200" i="1" dirty="0"/>
              <a:t>Drone Shakti</a:t>
            </a:r>
            <a:r>
              <a:rPr lang="en-US" sz="1200" dirty="0"/>
              <a:t> and </a:t>
            </a:r>
            <a:r>
              <a:rPr lang="en-US" sz="1200" i="1" dirty="0" err="1"/>
              <a:t>Atmanirbhar</a:t>
            </a:r>
            <a:r>
              <a:rPr lang="en-US" sz="1200" i="1" dirty="0"/>
              <a:t> Bharat</a:t>
            </a:r>
            <a:r>
              <a:rPr lang="en-US" sz="1200" dirty="0"/>
              <a:t> encourage adoption.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Existing Tech Base</a:t>
            </a:r>
            <a:r>
              <a:rPr lang="en-US" sz="1200" dirty="0"/>
              <a:t> – India already has drone policies, AI &amp; IoT infrastructure to build on.</a:t>
            </a:r>
          </a:p>
          <a:p>
            <a:endParaRPr lang="en-US" sz="1200" dirty="0"/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Market Demand:</a:t>
            </a:r>
            <a:r>
              <a:rPr lang="en-US" sz="1200" dirty="0"/>
              <a:t> High need in healthcare, disaster management, agriculture, and environmental monitoring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Government Support:</a:t>
            </a:r>
            <a:r>
              <a:rPr lang="en-US" sz="1200" dirty="0"/>
              <a:t> Backed by policies </a:t>
            </a:r>
            <a:r>
              <a:rPr lang="en-US" sz="1200" i="1" dirty="0" err="1"/>
              <a:t>Atmanirbhar</a:t>
            </a:r>
            <a:r>
              <a:rPr lang="en-US" sz="1200" i="1" dirty="0"/>
              <a:t> Bharat</a:t>
            </a:r>
            <a:r>
              <a:rPr lang="en-US" sz="12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Commercialization:</a:t>
            </a:r>
            <a:r>
              <a:rPr lang="en-US" sz="1200" dirty="0"/>
              <a:t> Viable as a startup model with applications in public and private sectors.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/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Research &amp; identify key use-cases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Design modular prototype (drones/robots)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Develop hardware + software integration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Test in lab &amp; controlled field environments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/>
              <a:t>Optimize battery, payload &amp; autonomy</a:t>
            </a:r>
            <a:endParaRPr lang="en-US" sz="1200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697091"/>
              </p:ext>
            </p:extLst>
          </p:nvPr>
        </p:nvGraphicFramePr>
        <p:xfrm>
          <a:off x="8152256" y="1358519"/>
          <a:ext cx="3847933" cy="283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38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Category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Converted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Value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(INR)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022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(Approx.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USD</a:t>
                      </a:r>
                      <a:r>
                        <a:rPr sz="1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₹83)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673">
                <a:tc>
                  <a:txBody>
                    <a:bodyPr/>
                    <a:lstStyle/>
                    <a:p>
                      <a:pPr marL="8255" algn="ctr">
                        <a:lnSpc>
                          <a:spcPts val="1664"/>
                        </a:lnSpc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Drone Market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6,90,000 Crore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673">
                <a:tc>
                  <a:txBody>
                    <a:bodyPr/>
                    <a:lstStyle/>
                    <a:p>
                      <a:pPr marL="8255" algn="ctr">
                        <a:lnSpc>
                          <a:spcPts val="1664"/>
                        </a:lnSpc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Commercial Market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1,43,000 Crore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832"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Industrial Robotics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3,15,000 Crore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247">
                <a:tc>
                  <a:txBody>
                    <a:bodyPr/>
                    <a:lstStyle/>
                    <a:p>
                      <a:pPr marL="8255" marR="29464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Collaborative Robots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46,000 Crore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673">
                <a:tc>
                  <a:txBody>
                    <a:bodyPr/>
                    <a:lstStyle/>
                    <a:p>
                      <a:pPr marL="8255" marR="355600" algn="ctr">
                        <a:lnSpc>
                          <a:spcPts val="1680"/>
                        </a:lnSpc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Advanced Robotics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lang="en-IN" sz="1400" dirty="0">
                          <a:latin typeface="Calibri"/>
                          <a:cs typeface="Calibri"/>
                        </a:rPr>
                        <a:t> 4,42,000 Crore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829293" y="1076324"/>
            <a:ext cx="1856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69265" algn="l"/>
              </a:tabLst>
            </a:pPr>
            <a:r>
              <a:rPr sz="1600" b="1" dirty="0">
                <a:solidFill>
                  <a:srgbClr val="1F487C"/>
                </a:solidFill>
                <a:latin typeface="Arial"/>
                <a:cs typeface="Arial"/>
              </a:rPr>
              <a:t>MARKET</a:t>
            </a:r>
            <a:r>
              <a:rPr sz="16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F487C"/>
                </a:solidFill>
                <a:latin typeface="Arial"/>
                <a:cs typeface="Arial"/>
              </a:rPr>
              <a:t>SIZE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570" y="974852"/>
            <a:ext cx="367855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4965" algn="l"/>
              </a:tabLst>
            </a:pPr>
            <a:r>
              <a:rPr sz="1600" b="1" dirty="0">
                <a:solidFill>
                  <a:srgbClr val="1F487C"/>
                </a:solidFill>
                <a:latin typeface="Calibri"/>
                <a:cs typeface="Calibri"/>
              </a:rPr>
              <a:t>Feasibility</a:t>
            </a:r>
            <a:r>
              <a:rPr sz="16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16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1600" b="1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1F487C"/>
                </a:solidFill>
                <a:latin typeface="Calibri"/>
                <a:cs typeface="Calibri"/>
              </a:rPr>
              <a:t>idea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230" y="3100831"/>
            <a:ext cx="38379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4965" algn="l"/>
              </a:tabLst>
            </a:pPr>
            <a:r>
              <a:rPr sz="1600" b="1" spc="-10" dirty="0">
                <a:solidFill>
                  <a:srgbClr val="1F487C"/>
                </a:solidFill>
                <a:latin typeface="Calibri"/>
                <a:cs typeface="Calibri"/>
              </a:rPr>
              <a:t>Viability</a:t>
            </a:r>
            <a:endParaRPr sz="1600" dirty="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299085" algn="l"/>
              </a:tabLst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12" y="4631182"/>
            <a:ext cx="3854450" cy="255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1905"/>
              </a:lnSpc>
              <a:spcBef>
                <a:spcPts val="95"/>
              </a:spcBef>
              <a:buFont typeface="Wingdings"/>
              <a:buChar char=""/>
              <a:tabLst>
                <a:tab pos="354965" algn="l"/>
              </a:tabLst>
            </a:pPr>
            <a:r>
              <a:rPr sz="1600" b="1" spc="-10" dirty="0">
                <a:solidFill>
                  <a:srgbClr val="1F487C"/>
                </a:solidFill>
                <a:latin typeface="Arial"/>
                <a:cs typeface="Arial"/>
              </a:rPr>
              <a:t>Implementation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3370" y="1041273"/>
            <a:ext cx="26854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2880">
              <a:lnSpc>
                <a:spcPct val="100000"/>
              </a:lnSpc>
              <a:spcBef>
                <a:spcPts val="95"/>
              </a:spcBef>
              <a:buSzPct val="93750"/>
              <a:buFont typeface="Wingdings"/>
              <a:buChar char=""/>
              <a:tabLst>
                <a:tab pos="193675" algn="l"/>
              </a:tabLst>
            </a:pPr>
            <a:r>
              <a:rPr sz="1600" b="1" spc="-10" dirty="0">
                <a:solidFill>
                  <a:srgbClr val="1F487C"/>
                </a:solidFill>
                <a:latin typeface="Calibri"/>
                <a:cs typeface="Calibri"/>
              </a:rPr>
              <a:t>Potential</a:t>
            </a:r>
            <a:r>
              <a:rPr sz="1600" b="1" spc="-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87C"/>
                </a:solidFill>
                <a:latin typeface="Calibri"/>
                <a:cs typeface="Calibri"/>
              </a:rPr>
              <a:t>challenges</a:t>
            </a:r>
            <a:r>
              <a:rPr sz="1600" b="1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87C"/>
                </a:solidFill>
                <a:latin typeface="Calibri"/>
                <a:cs typeface="Calibri"/>
              </a:rPr>
              <a:t>and</a:t>
            </a:r>
            <a:r>
              <a:rPr sz="1600" b="1" spc="-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F487C"/>
                </a:solidFill>
                <a:latin typeface="Calibri"/>
                <a:cs typeface="Calibri"/>
              </a:rPr>
              <a:t>risks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82084" y="1077467"/>
            <a:ext cx="0" cy="5184775"/>
          </a:xfrm>
          <a:custGeom>
            <a:avLst/>
            <a:gdLst/>
            <a:ahLst/>
            <a:cxnLst/>
            <a:rect l="l" t="t" r="r" b="b"/>
            <a:pathLst>
              <a:path h="5184775">
                <a:moveTo>
                  <a:pt x="0" y="0"/>
                </a:moveTo>
                <a:lnTo>
                  <a:pt x="0" y="5184457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07477" y="1087247"/>
            <a:ext cx="0" cy="5184775"/>
          </a:xfrm>
          <a:custGeom>
            <a:avLst/>
            <a:gdLst/>
            <a:ahLst/>
            <a:cxnLst/>
            <a:rect l="l" t="t" r="r" b="b"/>
            <a:pathLst>
              <a:path h="5184775">
                <a:moveTo>
                  <a:pt x="0" y="0"/>
                </a:moveTo>
                <a:lnTo>
                  <a:pt x="0" y="5184508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7060" y="3113277"/>
            <a:ext cx="3573779" cy="0"/>
          </a:xfrm>
          <a:custGeom>
            <a:avLst/>
            <a:gdLst/>
            <a:ahLst/>
            <a:cxnLst/>
            <a:rect l="l" t="t" r="r" b="b"/>
            <a:pathLst>
              <a:path w="3573779">
                <a:moveTo>
                  <a:pt x="0" y="0"/>
                </a:moveTo>
                <a:lnTo>
                  <a:pt x="3573348" y="0"/>
                </a:lnTo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217" y="14514"/>
            <a:ext cx="2286000" cy="1096181"/>
          </a:xfrm>
          <a:prstGeom prst="rect">
            <a:avLst/>
          </a:prstGeom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7B2AC4BA-2748-A10E-5781-8B70517A7F25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192" y="1510548"/>
            <a:ext cx="1927008" cy="4794444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660" y="221437"/>
            <a:ext cx="6949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5900" algn="l"/>
              </a:tabLst>
            </a:pPr>
            <a:r>
              <a:rPr spc="-10" dirty="0"/>
              <a:t>RESEARCH</a:t>
            </a:r>
            <a:r>
              <a:rPr dirty="0"/>
              <a:t>	AND </a:t>
            </a:r>
            <a:r>
              <a:rPr spc="-10" dirty="0"/>
              <a:t>REFERENCES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892" y="81432"/>
            <a:ext cx="2246629" cy="114907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29768" y="252222"/>
            <a:ext cx="1252220" cy="807720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8048" y="240919"/>
            <a:ext cx="633095" cy="80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Calibri"/>
                <a:cs typeface="Calibri"/>
              </a:rPr>
              <a:t>THE </a:t>
            </a:r>
            <a:r>
              <a:rPr sz="1700" spc="-20" dirty="0">
                <a:latin typeface="Calibri"/>
                <a:cs typeface="Calibri"/>
              </a:rPr>
              <a:t>TEAM CODEX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0" y="1088371"/>
            <a:ext cx="12192000" cy="289823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 smtClean="0">
                <a:solidFill>
                  <a:schemeClr val="bg1"/>
                </a:solidFill>
                <a:latin typeface="Times New Roman"/>
                <a:cs typeface="Times New Roman"/>
              </a:rPr>
              <a:t>ARTICLES &amp; RESEARCH PAPER</a:t>
            </a:r>
            <a:endParaRPr sz="1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-20" dirty="0"/>
              <a:t> </a:t>
            </a:r>
            <a:r>
              <a:rPr dirty="0"/>
              <a:t>Idea</a:t>
            </a:r>
            <a:r>
              <a:rPr spc="-30" dirty="0"/>
              <a:t> </a:t>
            </a:r>
            <a:r>
              <a:rPr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731" y="-11612"/>
            <a:ext cx="2286000" cy="10961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524000"/>
            <a:ext cx="12192000" cy="1828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695416"/>
            <a:ext cx="117139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Application of drone in disaster management: A scoping review – </a:t>
            </a:r>
            <a:r>
              <a:rPr lang="en-US" dirty="0" smtClean="0">
                <a:hlinkClick r:id="rId4"/>
              </a:rPr>
              <a:t>Article</a:t>
            </a:r>
            <a:endParaRPr lang="en-US" dirty="0" smtClean="0"/>
          </a:p>
          <a:p>
            <a:r>
              <a:rPr lang="en-US" dirty="0" smtClean="0"/>
              <a:t>2. Telecommunication Engineering </a:t>
            </a:r>
            <a:r>
              <a:rPr lang="en-US" dirty="0"/>
              <a:t>C</a:t>
            </a:r>
            <a:r>
              <a:rPr lang="en-US" dirty="0" smtClean="0"/>
              <a:t>entre </a:t>
            </a:r>
            <a:r>
              <a:rPr lang="en-US" dirty="0"/>
              <a:t>D</a:t>
            </a:r>
            <a:r>
              <a:rPr lang="en-US" dirty="0" smtClean="0"/>
              <a:t>epartment of Telecommunications </a:t>
            </a:r>
            <a:r>
              <a:rPr lang="en-US" dirty="0"/>
              <a:t>M</a:t>
            </a:r>
            <a:r>
              <a:rPr lang="en-US" dirty="0" smtClean="0"/>
              <a:t>inistry of Communications </a:t>
            </a:r>
            <a:r>
              <a:rPr lang="en-US" dirty="0"/>
              <a:t>G</a:t>
            </a:r>
            <a:r>
              <a:rPr lang="en-US" dirty="0" smtClean="0"/>
              <a:t>overnment of India – </a:t>
            </a:r>
            <a:r>
              <a:rPr lang="en-US" dirty="0" smtClean="0">
                <a:hlinkClick r:id="rId5"/>
              </a:rPr>
              <a:t>Use cases of drones in disaster management</a:t>
            </a:r>
            <a:endParaRPr lang="en-US" dirty="0" smtClean="0"/>
          </a:p>
          <a:p>
            <a:r>
              <a:rPr lang="en-US" dirty="0" smtClean="0"/>
              <a:t>3. National Institute of Health – </a:t>
            </a:r>
            <a:r>
              <a:rPr lang="en-US" dirty="0" smtClean="0">
                <a:hlinkClick r:id="rId6"/>
              </a:rPr>
              <a:t>Steps to build a DIY low-cost fixed-wing drone</a:t>
            </a:r>
            <a:endParaRPr lang="en-US" dirty="0" smtClean="0"/>
          </a:p>
          <a:p>
            <a:r>
              <a:rPr lang="en-US" dirty="0" smtClean="0"/>
              <a:t>4. IIT Madras – </a:t>
            </a:r>
            <a:r>
              <a:rPr lang="en-US" dirty="0" smtClean="0">
                <a:hlinkClick r:id="rId7"/>
              </a:rPr>
              <a:t>Drone Design and fabrication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895</Words>
  <Application>Microsoft Office PowerPoint</Application>
  <PresentationFormat>Widescreen</PresentationFormat>
  <Paragraphs>136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Times New Roman</vt:lpstr>
      <vt:lpstr>Wingdings</vt:lpstr>
      <vt:lpstr>Office Theme</vt:lpstr>
      <vt:lpstr>SMART INDIA HACKATHON 2024</vt:lpstr>
      <vt:lpstr>Red Dragonfly</vt:lpstr>
      <vt:lpstr>TECHNICAL APPROACH</vt:lpstr>
      <vt:lpstr>IMPACT AND BENEFITS</vt:lpstr>
      <vt:lpstr>TEAM STARFLEET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user</cp:lastModifiedBy>
  <cp:revision>31</cp:revision>
  <dcterms:created xsi:type="dcterms:W3CDTF">2025-09-15T18:08:38Z</dcterms:created>
  <dcterms:modified xsi:type="dcterms:W3CDTF">2025-09-16T14:47:17Z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2025-09-15T00:00:00Z</vt:filetime>
  </property>
  <property fmtid="{D5CDD505-2E9C-101B-9397-08002B2CF9AE}" pid="5" name="Producer">
    <vt:lpwstr>Microsoft® PowerPoint® 2021</vt:lpwstr>
  </property>
</Properties>
</file>